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
  </p:notesMasterIdLst>
  <p:sldIdLst>
    <p:sldId id="256" r:id="rId2"/>
    <p:sldId id="275" r:id="rId3"/>
    <p:sldId id="274" r:id="rId4"/>
    <p:sldId id="266" r:id="rId5"/>
    <p:sldId id="267" r:id="rId6"/>
    <p:sldId id="268" r:id="rId7"/>
    <p:sldId id="257" r:id="rId8"/>
    <p:sldId id="258" r:id="rId9"/>
    <p:sldId id="260" r:id="rId10"/>
    <p:sldId id="261" r:id="rId11"/>
    <p:sldId id="270" r:id="rId12"/>
    <p:sldId id="262" r:id="rId13"/>
    <p:sldId id="271" r:id="rId14"/>
    <p:sldId id="263" r:id="rId15"/>
    <p:sldId id="273" r:id="rId16"/>
    <p:sldId id="272" r:id="rId17"/>
    <p:sldId id="276"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94660"/>
  </p:normalViewPr>
  <p:slideViewPr>
    <p:cSldViewPr snapToGrid="0">
      <p:cViewPr varScale="1">
        <p:scale>
          <a:sx n="64" d="100"/>
          <a:sy n="64" d="100"/>
        </p:scale>
        <p:origin x="96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07A978-D0B2-42E1-8EC0-A8FEF30409EC}" type="datetimeFigureOut">
              <a:rPr lang="en-US" smtClean="0"/>
              <a:t>1/15/2026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DD9C7C-EEDC-4DCB-83DC-5E37232FF0B4}" type="slidenum">
              <a:rPr lang="en-US" smtClean="0"/>
              <a:t>‹#›</a:t>
            </a:fld>
            <a:endParaRPr lang="en-US"/>
          </a:p>
        </p:txBody>
      </p:sp>
    </p:spTree>
    <p:extLst>
      <p:ext uri="{BB962C8B-B14F-4D97-AF65-F5344CB8AC3E}">
        <p14:creationId xmlns:p14="http://schemas.microsoft.com/office/powerpoint/2010/main" val="34630777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DDD9C7C-EEDC-4DCB-83DC-5E37232FF0B4}" type="slidenum">
              <a:rPr lang="en-US" smtClean="0"/>
              <a:t>1</a:t>
            </a:fld>
            <a:endParaRPr lang="en-US"/>
          </a:p>
        </p:txBody>
      </p:sp>
    </p:spTree>
    <p:extLst>
      <p:ext uri="{BB962C8B-B14F-4D97-AF65-F5344CB8AC3E}">
        <p14:creationId xmlns:p14="http://schemas.microsoft.com/office/powerpoint/2010/main" val="3241525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B336B2D-36B2-438F-BAE7-A73F8A5D82F4}" type="datetime1">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54DF18-499E-4F97-AED2-EE380001E106}" type="slidenum">
              <a:rPr lang="en-US" smtClean="0"/>
              <a:t>‹#›</a:t>
            </a:fld>
            <a:endParaRPr lang="en-US"/>
          </a:p>
        </p:txBody>
      </p:sp>
    </p:spTree>
    <p:extLst>
      <p:ext uri="{BB962C8B-B14F-4D97-AF65-F5344CB8AC3E}">
        <p14:creationId xmlns:p14="http://schemas.microsoft.com/office/powerpoint/2010/main" val="34378846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4E43DEF-B093-4B1D-9AAB-5DE57EFF37C7}" type="datetime1">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54DF18-499E-4F97-AED2-EE380001E106}" type="slidenum">
              <a:rPr lang="en-US" smtClean="0"/>
              <a:t>‹#›</a:t>
            </a:fld>
            <a:endParaRPr lang="en-US"/>
          </a:p>
        </p:txBody>
      </p:sp>
    </p:spTree>
    <p:extLst>
      <p:ext uri="{BB962C8B-B14F-4D97-AF65-F5344CB8AC3E}">
        <p14:creationId xmlns:p14="http://schemas.microsoft.com/office/powerpoint/2010/main" val="34573767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2BCE8CD-05A8-42F4-88FE-0B1BEF10CC04}" type="datetime1">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54DF18-499E-4F97-AED2-EE380001E106}" type="slidenum">
              <a:rPr lang="en-US" smtClean="0"/>
              <a:t>‹#›</a:t>
            </a:fld>
            <a:endParaRPr lang="en-US"/>
          </a:p>
        </p:txBody>
      </p:sp>
    </p:spTree>
    <p:extLst>
      <p:ext uri="{BB962C8B-B14F-4D97-AF65-F5344CB8AC3E}">
        <p14:creationId xmlns:p14="http://schemas.microsoft.com/office/powerpoint/2010/main" val="10885845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4A55AB8-816A-4481-B054-7BB3F2BE858D}" type="datetime1">
              <a:rPr lang="en-US" smtClean="0"/>
              <a:t>1/15/2026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54DF18-499E-4F97-AED2-EE380001E106}" type="slidenum">
              <a:rPr lang="en-US" smtClean="0"/>
              <a:t>‹#›</a:t>
            </a:fld>
            <a:endParaRPr lang="en-US"/>
          </a:p>
        </p:txBody>
      </p:sp>
    </p:spTree>
    <p:extLst>
      <p:ext uri="{BB962C8B-B14F-4D97-AF65-F5344CB8AC3E}">
        <p14:creationId xmlns:p14="http://schemas.microsoft.com/office/powerpoint/2010/main" val="41924726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6FE1DCA-EF3B-4E2A-A96E-2B4F7CF6832F}" type="datetime1">
              <a:rPr lang="en-US" smtClean="0"/>
              <a:t>1/15/2026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D54DF18-499E-4F97-AED2-EE380001E106}" type="slidenum">
              <a:rPr lang="en-US" smtClean="0"/>
              <a:t>‹#›</a:t>
            </a:fld>
            <a:endParaRPr lang="en-US"/>
          </a:p>
        </p:txBody>
      </p:sp>
    </p:spTree>
    <p:extLst>
      <p:ext uri="{BB962C8B-B14F-4D97-AF65-F5344CB8AC3E}">
        <p14:creationId xmlns:p14="http://schemas.microsoft.com/office/powerpoint/2010/main" val="16059330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2672729-B3E3-4101-B0C2-4F3C9C56B2B2}" type="datetime1">
              <a:rPr lang="en-US" smtClean="0"/>
              <a:t>1/15/2026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D54DF18-499E-4F97-AED2-EE380001E106}" type="slidenum">
              <a:rPr lang="en-US" smtClean="0"/>
              <a:t>‹#›</a:t>
            </a:fld>
            <a:endParaRPr lang="en-US"/>
          </a:p>
        </p:txBody>
      </p:sp>
    </p:spTree>
    <p:extLst>
      <p:ext uri="{BB962C8B-B14F-4D97-AF65-F5344CB8AC3E}">
        <p14:creationId xmlns:p14="http://schemas.microsoft.com/office/powerpoint/2010/main" val="3775212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735580C-E23E-42A3-BA08-BF9E55807C5B}" type="datetime1">
              <a:rPr lang="en-US" smtClean="0"/>
              <a:t>1/15/2026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D54DF18-499E-4F97-AED2-EE380001E106}" type="slidenum">
              <a:rPr lang="en-US" smtClean="0"/>
              <a:t>‹#›</a:t>
            </a:fld>
            <a:endParaRPr lang="en-US"/>
          </a:p>
        </p:txBody>
      </p:sp>
    </p:spTree>
    <p:extLst>
      <p:ext uri="{BB962C8B-B14F-4D97-AF65-F5344CB8AC3E}">
        <p14:creationId xmlns:p14="http://schemas.microsoft.com/office/powerpoint/2010/main" val="10014575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FC03D3D-571B-450D-B1C5-2D90CA87A01C}" type="datetime1">
              <a:rPr lang="en-US" smtClean="0"/>
              <a:t>1/15/2026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54DF18-499E-4F97-AED2-EE380001E106}" type="slidenum">
              <a:rPr lang="en-US" smtClean="0"/>
              <a:t>‹#›</a:t>
            </a:fld>
            <a:endParaRPr lang="en-US"/>
          </a:p>
        </p:txBody>
      </p:sp>
    </p:spTree>
    <p:extLst>
      <p:ext uri="{BB962C8B-B14F-4D97-AF65-F5344CB8AC3E}">
        <p14:creationId xmlns:p14="http://schemas.microsoft.com/office/powerpoint/2010/main" val="41714012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F6AC2D8-50A5-440C-9330-3D9295B9B446}" type="datetime1">
              <a:rPr lang="en-US" smtClean="0"/>
              <a:t>1/15/2026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54DF18-499E-4F97-AED2-EE380001E106}" type="slidenum">
              <a:rPr lang="en-US" smtClean="0"/>
              <a:t>‹#›</a:t>
            </a:fld>
            <a:endParaRPr lang="en-US"/>
          </a:p>
        </p:txBody>
      </p:sp>
    </p:spTree>
    <p:extLst>
      <p:ext uri="{BB962C8B-B14F-4D97-AF65-F5344CB8AC3E}">
        <p14:creationId xmlns:p14="http://schemas.microsoft.com/office/powerpoint/2010/main" val="17419014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699F737-09E7-4E46-B7C1-F20770841118}" type="datetime1">
              <a:rPr lang="en-US" smtClean="0"/>
              <a:t>1/15/2026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54DF18-499E-4F97-AED2-EE380001E106}" type="slidenum">
              <a:rPr lang="en-US" smtClean="0"/>
              <a:t>‹#›</a:t>
            </a:fld>
            <a:endParaRPr lang="en-US"/>
          </a:p>
        </p:txBody>
      </p:sp>
    </p:spTree>
    <p:extLst>
      <p:ext uri="{BB962C8B-B14F-4D97-AF65-F5344CB8AC3E}">
        <p14:creationId xmlns:p14="http://schemas.microsoft.com/office/powerpoint/2010/main" val="2032921608"/>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699F737-09E7-4E46-B7C1-F20770841118}" type="datetime1">
              <a:rPr lang="en-US" smtClean="0"/>
              <a:t>1/15/2026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54DF18-499E-4F97-AED2-EE380001E106}" type="slidenum">
              <a:rPr lang="en-US" smtClean="0"/>
              <a:t>‹#›</a:t>
            </a:fld>
            <a:endParaRPr lang="en-US"/>
          </a:p>
        </p:txBody>
      </p:sp>
    </p:spTree>
    <p:extLst>
      <p:ext uri="{BB962C8B-B14F-4D97-AF65-F5344CB8AC3E}">
        <p14:creationId xmlns:p14="http://schemas.microsoft.com/office/powerpoint/2010/main" val="2183534793"/>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699F737-09E7-4E46-B7C1-F20770841118}" type="datetime1">
              <a:rPr lang="en-US" smtClean="0"/>
              <a:t>1/15/2026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54DF18-499E-4F97-AED2-EE380001E106}" type="slidenum">
              <a:rPr lang="en-US" smtClean="0"/>
              <a:t>‹#›</a:t>
            </a:fld>
            <a:endParaRPr lang="en-US"/>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469790564"/>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699F737-09E7-4E46-B7C1-F20770841118}" type="datetime1">
              <a:rPr lang="en-US" smtClean="0"/>
              <a:t>1/15/2026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54DF18-499E-4F97-AED2-EE380001E106}" type="slidenum">
              <a:rPr lang="en-US" smtClean="0"/>
              <a:t>‹#›</a:t>
            </a:fld>
            <a:endParaRPr lang="en-US"/>
          </a:p>
        </p:txBody>
      </p:sp>
    </p:spTree>
    <p:extLst>
      <p:ext uri="{BB962C8B-B14F-4D97-AF65-F5344CB8AC3E}">
        <p14:creationId xmlns:p14="http://schemas.microsoft.com/office/powerpoint/2010/main" val="1613917928"/>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9699F737-09E7-4E46-B7C1-F20770841118}" type="datetime1">
              <a:rPr lang="en-US" smtClean="0"/>
              <a:t>1/15/2026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D54DF18-499E-4F97-AED2-EE380001E106}" type="slidenum">
              <a:rPr lang="en-US" smtClean="0"/>
              <a:t>‹#›</a:t>
            </a:fld>
            <a:endParaRPr lang="en-US"/>
          </a:p>
        </p:txBody>
      </p:sp>
    </p:spTree>
    <p:extLst>
      <p:ext uri="{BB962C8B-B14F-4D97-AF65-F5344CB8AC3E}">
        <p14:creationId xmlns:p14="http://schemas.microsoft.com/office/powerpoint/2010/main" val="2747937489"/>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9699F737-09E7-4E46-B7C1-F20770841118}" type="datetime1">
              <a:rPr lang="en-US" smtClean="0"/>
              <a:t>1/15/2026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D54DF18-499E-4F97-AED2-EE380001E106}" type="slidenum">
              <a:rPr lang="en-US" smtClean="0"/>
              <a:t>‹#›</a:t>
            </a:fld>
            <a:endParaRPr lang="en-US"/>
          </a:p>
        </p:txBody>
      </p:sp>
    </p:spTree>
    <p:extLst>
      <p:ext uri="{BB962C8B-B14F-4D97-AF65-F5344CB8AC3E}">
        <p14:creationId xmlns:p14="http://schemas.microsoft.com/office/powerpoint/2010/main" val="4174996054"/>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D3024F7-59FC-449D-AEC0-E47CCE87F333}" type="datetime1">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54DF18-499E-4F97-AED2-EE380001E106}" type="slidenum">
              <a:rPr lang="en-US" smtClean="0"/>
              <a:t>‹#›</a:t>
            </a:fld>
            <a:endParaRPr lang="en-US"/>
          </a:p>
        </p:txBody>
      </p:sp>
    </p:spTree>
    <p:extLst>
      <p:ext uri="{BB962C8B-B14F-4D97-AF65-F5344CB8AC3E}">
        <p14:creationId xmlns:p14="http://schemas.microsoft.com/office/powerpoint/2010/main" val="1746523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CEABB4D-34E0-41AD-B093-00E68DDD435E}" type="datetime1">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54DF18-499E-4F97-AED2-EE380001E106}" type="slidenum">
              <a:rPr lang="en-US" smtClean="0"/>
              <a:t>‹#›</a:t>
            </a:fld>
            <a:endParaRPr lang="en-US"/>
          </a:p>
        </p:txBody>
      </p:sp>
    </p:spTree>
    <p:extLst>
      <p:ext uri="{BB962C8B-B14F-4D97-AF65-F5344CB8AC3E}">
        <p14:creationId xmlns:p14="http://schemas.microsoft.com/office/powerpoint/2010/main" val="35577186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9699F737-09E7-4E46-B7C1-F20770841118}" type="datetime1">
              <a:rPr lang="en-US" smtClean="0"/>
              <a:t>1/15/2026</a:t>
            </a:fld>
            <a:endParaRPr lang="en-US"/>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ED54DF18-499E-4F97-AED2-EE380001E106}" type="slidenum">
              <a:rPr lang="en-US" smtClean="0"/>
              <a:t>‹#›</a:t>
            </a:fld>
            <a:endParaRPr lang="en-US"/>
          </a:p>
        </p:txBody>
      </p:sp>
    </p:spTree>
    <p:extLst>
      <p:ext uri="{BB962C8B-B14F-4D97-AF65-F5344CB8AC3E}">
        <p14:creationId xmlns:p14="http://schemas.microsoft.com/office/powerpoint/2010/main" val="383452870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hf hdr="0" ftr="0" dt="0"/>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claude.ai/new" TargetMode="External"/><Relationship Id="rId2" Type="http://schemas.openxmlformats.org/officeDocument/2006/relationships/hyperlink" Target="https://chatgpt.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0FAA0-0BF6-E265-BE2B-971231916C7B}"/>
              </a:ext>
            </a:extLst>
          </p:cNvPr>
          <p:cNvSpPr>
            <a:spLocks noGrp="1"/>
          </p:cNvSpPr>
          <p:nvPr>
            <p:ph type="ctrTitle"/>
          </p:nvPr>
        </p:nvSpPr>
        <p:spPr>
          <a:xfrm>
            <a:off x="1524000" y="596736"/>
            <a:ext cx="9144000" cy="2387600"/>
          </a:xfrm>
        </p:spPr>
        <p:txBody>
          <a:bodyPr>
            <a:normAutofit fontScale="90000"/>
          </a:bodyPr>
          <a:lstStyle/>
          <a:p>
            <a:r>
              <a:rPr lang="en-US" sz="5400" b="1" dirty="0">
                <a:latin typeface="Calibri" panose="020F0502020204030204" pitchFamily="34" charset="0"/>
                <a:ea typeface="Calibri" panose="020F0502020204030204" pitchFamily="34" charset="0"/>
                <a:cs typeface="Calibri" panose="020F0502020204030204" pitchFamily="34" charset="0"/>
              </a:rPr>
              <a:t>Social Media Friend Recommendation Simulator</a:t>
            </a:r>
            <a:br>
              <a:rPr lang="en-US" sz="5400" b="1" dirty="0">
                <a:latin typeface="Calibri" panose="020F0502020204030204" pitchFamily="34" charset="0"/>
                <a:ea typeface="Calibri" panose="020F0502020204030204" pitchFamily="34" charset="0"/>
                <a:cs typeface="Calibri" panose="020F0502020204030204" pitchFamily="34" charset="0"/>
              </a:rPr>
            </a:br>
            <a:br>
              <a:rPr lang="en-US" sz="5400" b="1" dirty="0">
                <a:latin typeface="Calibri" panose="020F0502020204030204" pitchFamily="34" charset="0"/>
                <a:ea typeface="Calibri" panose="020F0502020204030204" pitchFamily="34" charset="0"/>
                <a:cs typeface="Calibri" panose="020F0502020204030204" pitchFamily="34" charset="0"/>
              </a:rPr>
            </a:br>
            <a:r>
              <a:rPr lang="en-US" sz="3200" b="1" dirty="0">
                <a:latin typeface="Calibri" panose="020F0502020204030204" pitchFamily="34" charset="0"/>
                <a:ea typeface="Calibri" panose="020F0502020204030204" pitchFamily="34" charset="0"/>
                <a:cs typeface="Calibri" panose="020F0502020204030204" pitchFamily="34" charset="0"/>
              </a:rPr>
              <a:t>Data Structures And Algorithm Lab Project</a:t>
            </a:r>
            <a:endParaRPr lang="en-US" sz="5400" b="1" dirty="0">
              <a:latin typeface="Calibri" panose="020F0502020204030204" pitchFamily="34" charset="0"/>
              <a:ea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AC6940E2-771E-8200-2380-810B0DE15714}"/>
              </a:ext>
            </a:extLst>
          </p:cNvPr>
          <p:cNvSpPr>
            <a:spLocks noGrp="1"/>
          </p:cNvSpPr>
          <p:nvPr>
            <p:ph type="subTitle" idx="1"/>
          </p:nvPr>
        </p:nvSpPr>
        <p:spPr/>
        <p:txBody>
          <a:bodyPr>
            <a:normAutofit fontScale="77500" lnSpcReduction="20000"/>
          </a:bodyPr>
          <a:lstStyle/>
          <a:p>
            <a:r>
              <a:rPr lang="en-US" b="1" dirty="0">
                <a:latin typeface="Calibri" panose="020F0502020204030204" pitchFamily="34" charset="0"/>
                <a:ea typeface="Calibri" panose="020F0502020204030204" pitchFamily="34" charset="0"/>
                <a:cs typeface="Calibri" panose="020F0502020204030204" pitchFamily="34" charset="0"/>
              </a:rPr>
              <a:t>Presented By: </a:t>
            </a:r>
          </a:p>
          <a:p>
            <a:r>
              <a:rPr lang="en-US" dirty="0">
                <a:latin typeface="Calibri" panose="020F0502020204030204" pitchFamily="34" charset="0"/>
                <a:ea typeface="Calibri" panose="020F0502020204030204" pitchFamily="34" charset="0"/>
                <a:cs typeface="Calibri" panose="020F0502020204030204" pitchFamily="34" charset="0"/>
              </a:rPr>
              <a:t>Hassan Ali Ahmad	 (NUM-BSEE-2023-03)</a:t>
            </a:r>
          </a:p>
          <a:p>
            <a:r>
              <a:rPr lang="en-US" dirty="0">
                <a:latin typeface="Calibri" panose="020F0502020204030204" pitchFamily="34" charset="0"/>
                <a:ea typeface="Calibri" panose="020F0502020204030204" pitchFamily="34" charset="0"/>
                <a:cs typeface="Calibri" panose="020F0502020204030204" pitchFamily="34" charset="0"/>
              </a:rPr>
              <a:t>Abdul Rehman        (NUM-BSEE-2023-36)</a:t>
            </a:r>
          </a:p>
          <a:p>
            <a:r>
              <a:rPr lang="en-US" dirty="0">
                <a:latin typeface="Calibri" panose="020F0502020204030204" pitchFamily="34" charset="0"/>
                <a:ea typeface="Calibri" panose="020F0502020204030204" pitchFamily="34" charset="0"/>
                <a:cs typeface="Calibri" panose="020F0502020204030204" pitchFamily="34" charset="0"/>
              </a:rPr>
              <a:t>Muqaddas Bibi 	(NUM-BSEE-2022-18)</a:t>
            </a:r>
          </a:p>
        </p:txBody>
      </p:sp>
      <p:sp>
        <p:nvSpPr>
          <p:cNvPr id="4" name="Slide Number Placeholder 3"/>
          <p:cNvSpPr>
            <a:spLocks noGrp="1"/>
          </p:cNvSpPr>
          <p:nvPr>
            <p:ph type="sldNum" sz="quarter" idx="12"/>
          </p:nvPr>
        </p:nvSpPr>
        <p:spPr/>
        <p:txBody>
          <a:bodyPr/>
          <a:lstStyle/>
          <a:p>
            <a:fld id="{ED54DF18-499E-4F97-AED2-EE380001E106}" type="slidenum">
              <a:rPr lang="en-US" smtClean="0">
                <a:latin typeface="Calibri" panose="020F0502020204030204" pitchFamily="34" charset="0"/>
                <a:ea typeface="Calibri" panose="020F0502020204030204" pitchFamily="34" charset="0"/>
                <a:cs typeface="Calibri" panose="020F0502020204030204" pitchFamily="34" charset="0"/>
              </a:rPr>
              <a:t>1</a:t>
            </a:fld>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C55FD454-4F2A-3792-4A51-028B331D1D06}"/>
              </a:ext>
            </a:extLst>
          </p:cNvPr>
          <p:cNvSpPr txBox="1"/>
          <p:nvPr/>
        </p:nvSpPr>
        <p:spPr>
          <a:xfrm>
            <a:off x="4277136" y="5675447"/>
            <a:ext cx="3637727" cy="400110"/>
          </a:xfrm>
          <a:prstGeom prst="rect">
            <a:avLst/>
          </a:prstGeom>
          <a:noFill/>
        </p:spPr>
        <p:txBody>
          <a:bodyPr wrap="none" rtlCol="0">
            <a:sp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Lab Instructor: </a:t>
            </a:r>
            <a:r>
              <a:rPr lang="en-US" sz="2000" dirty="0">
                <a:latin typeface="Calibri" panose="020F0502020204030204" pitchFamily="34" charset="0"/>
                <a:ea typeface="Calibri" panose="020F0502020204030204" pitchFamily="34" charset="0"/>
                <a:cs typeface="Calibri" panose="020F0502020204030204" pitchFamily="34" charset="0"/>
              </a:rPr>
              <a:t>Ms. Sana Parveen</a:t>
            </a:r>
          </a:p>
        </p:txBody>
      </p:sp>
    </p:spTree>
    <p:extLst>
      <p:ext uri="{BB962C8B-B14F-4D97-AF65-F5344CB8AC3E}">
        <p14:creationId xmlns:p14="http://schemas.microsoft.com/office/powerpoint/2010/main" val="12531690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A1BD2-A4C9-B90B-921E-661E0FD72CFB}"/>
              </a:ext>
            </a:extLst>
          </p:cNvPr>
          <p:cNvSpPr>
            <a:spLocks noGrp="1"/>
          </p:cNvSpPr>
          <p:nvPr>
            <p:ph type="title"/>
          </p:nvPr>
        </p:nvSpPr>
        <p:spPr>
          <a:xfrm>
            <a:off x="763893" y="0"/>
            <a:ext cx="10353761" cy="1326321"/>
          </a:xfrm>
        </p:spPr>
        <p:txBody>
          <a:bodyPr/>
          <a:lstStyle/>
          <a:p>
            <a:pPr algn="l"/>
            <a:r>
              <a:rPr lang="en-US" b="1" dirty="0">
                <a:latin typeface="Calibri" panose="020F0502020204030204" pitchFamily="34" charset="0"/>
                <a:ea typeface="Calibri" panose="020F0502020204030204" pitchFamily="34" charset="0"/>
                <a:cs typeface="Calibri" panose="020F0502020204030204" pitchFamily="34" charset="0"/>
              </a:rPr>
              <a:t>Outline</a:t>
            </a:r>
          </a:p>
        </p:txBody>
      </p:sp>
      <p:sp>
        <p:nvSpPr>
          <p:cNvPr id="3" name="Content Placeholder 2">
            <a:extLst>
              <a:ext uri="{FF2B5EF4-FFF2-40B4-BE49-F238E27FC236}">
                <a16:creationId xmlns:a16="http://schemas.microsoft.com/office/drawing/2014/main" id="{2F225615-2748-E8A6-F447-4FA59716638B}"/>
              </a:ext>
            </a:extLst>
          </p:cNvPr>
          <p:cNvSpPr>
            <a:spLocks noGrp="1"/>
          </p:cNvSpPr>
          <p:nvPr>
            <p:ph idx="1"/>
          </p:nvPr>
        </p:nvSpPr>
        <p:spPr>
          <a:xfrm>
            <a:off x="913794" y="1033226"/>
            <a:ext cx="10353762" cy="3695136"/>
          </a:xfrm>
        </p:spPr>
        <p:txBody>
          <a:bodyPr>
            <a:noAutofit/>
          </a:bodyPr>
          <a:lstStyle/>
          <a:p>
            <a:r>
              <a:rPr lang="en-US" sz="2200" dirty="0">
                <a:latin typeface="Calibri" panose="020F0502020204030204" pitchFamily="34" charset="0"/>
                <a:ea typeface="Calibri" panose="020F0502020204030204" pitchFamily="34" charset="0"/>
                <a:cs typeface="Calibri" panose="020F0502020204030204" pitchFamily="34" charset="0"/>
              </a:rPr>
              <a:t>Introduction</a:t>
            </a:r>
          </a:p>
          <a:p>
            <a:r>
              <a:rPr lang="en-US" sz="2200" dirty="0">
                <a:latin typeface="Calibri" panose="020F0502020204030204" pitchFamily="34" charset="0"/>
                <a:ea typeface="Calibri" panose="020F0502020204030204" pitchFamily="34" charset="0"/>
                <a:cs typeface="Calibri" panose="020F0502020204030204" pitchFamily="34" charset="0"/>
              </a:rPr>
              <a:t>Flow Diagram</a:t>
            </a:r>
          </a:p>
          <a:p>
            <a:r>
              <a:rPr lang="en-US" sz="2200" dirty="0">
                <a:latin typeface="Calibri" panose="020F0502020204030204" pitchFamily="34" charset="0"/>
                <a:ea typeface="Calibri" panose="020F0502020204030204" pitchFamily="34" charset="0"/>
                <a:cs typeface="Calibri" panose="020F0502020204030204" pitchFamily="34" charset="0"/>
              </a:rPr>
              <a:t>Project Overview</a:t>
            </a:r>
          </a:p>
          <a:p>
            <a:r>
              <a:rPr lang="en-US" sz="2200" dirty="0">
                <a:latin typeface="Calibri" panose="020F0502020204030204" pitchFamily="34" charset="0"/>
                <a:ea typeface="Calibri" panose="020F0502020204030204" pitchFamily="34" charset="0"/>
                <a:cs typeface="Calibri" panose="020F0502020204030204" pitchFamily="34" charset="0"/>
              </a:rPr>
              <a:t>System Architecture</a:t>
            </a:r>
          </a:p>
          <a:p>
            <a:r>
              <a:rPr lang="en-US" sz="2200" dirty="0">
                <a:latin typeface="Calibri" panose="020F0502020204030204" pitchFamily="34" charset="0"/>
                <a:ea typeface="Calibri" panose="020F0502020204030204" pitchFamily="34" charset="0"/>
                <a:cs typeface="Calibri" panose="020F0502020204030204" pitchFamily="34" charset="0"/>
              </a:rPr>
              <a:t>Data Structures Algorithms</a:t>
            </a:r>
          </a:p>
          <a:p>
            <a:r>
              <a:rPr lang="en-US" sz="2200" dirty="0">
                <a:latin typeface="Calibri" panose="020F0502020204030204" pitchFamily="34" charset="0"/>
                <a:ea typeface="Calibri" panose="020F0502020204030204" pitchFamily="34" charset="0"/>
                <a:cs typeface="Calibri" panose="020F0502020204030204" pitchFamily="34" charset="0"/>
              </a:rPr>
              <a:t>User Class Logic</a:t>
            </a:r>
          </a:p>
          <a:p>
            <a:r>
              <a:rPr lang="en-US" sz="2200" dirty="0">
                <a:latin typeface="Calibri" panose="020F0502020204030204" pitchFamily="34" charset="0"/>
                <a:ea typeface="Calibri" panose="020F0502020204030204" pitchFamily="34" charset="0"/>
                <a:cs typeface="Calibri" panose="020F0502020204030204" pitchFamily="34" charset="0"/>
              </a:rPr>
              <a:t>Friend Request Algorithm</a:t>
            </a:r>
          </a:p>
          <a:p>
            <a:r>
              <a:rPr lang="en-US" sz="2200" dirty="0">
                <a:latin typeface="Calibri" panose="020F0502020204030204" pitchFamily="34" charset="0"/>
                <a:ea typeface="Calibri" panose="020F0502020204030204" pitchFamily="34" charset="0"/>
                <a:cs typeface="Calibri" panose="020F0502020204030204" pitchFamily="34" charset="0"/>
              </a:rPr>
              <a:t>Friend Suggestion Algorithm</a:t>
            </a:r>
          </a:p>
          <a:p>
            <a:r>
              <a:rPr lang="en-US" sz="2200" dirty="0">
                <a:latin typeface="Calibri" panose="020F0502020204030204" pitchFamily="34" charset="0"/>
                <a:ea typeface="Calibri" panose="020F0502020204030204" pitchFamily="34" charset="0"/>
                <a:cs typeface="Calibri" panose="020F0502020204030204" pitchFamily="34" charset="0"/>
              </a:rPr>
              <a:t>Messaging Algorithm</a:t>
            </a:r>
          </a:p>
          <a:p>
            <a:r>
              <a:rPr lang="en-US" sz="2200" dirty="0">
                <a:latin typeface="Calibri" panose="020F0502020204030204" pitchFamily="34" charset="0"/>
                <a:ea typeface="Calibri" panose="020F0502020204030204" pitchFamily="34" charset="0"/>
                <a:cs typeface="Calibri" panose="020F0502020204030204" pitchFamily="34" charset="0"/>
              </a:rPr>
              <a:t>Conclusion</a:t>
            </a:r>
          </a:p>
          <a:p>
            <a:r>
              <a:rPr lang="en-US" sz="2200" dirty="0">
                <a:latin typeface="Calibri" panose="020F0502020204030204" pitchFamily="34" charset="0"/>
                <a:ea typeface="Calibri" panose="020F0502020204030204" pitchFamily="34" charset="0"/>
                <a:cs typeface="Calibri" panose="020F0502020204030204" pitchFamily="34" charset="0"/>
              </a:rPr>
              <a:t>References</a:t>
            </a:r>
          </a:p>
        </p:txBody>
      </p:sp>
      <p:sp>
        <p:nvSpPr>
          <p:cNvPr id="4" name="Slide Number Placeholder 3">
            <a:extLst>
              <a:ext uri="{FF2B5EF4-FFF2-40B4-BE49-F238E27FC236}">
                <a16:creationId xmlns:a16="http://schemas.microsoft.com/office/drawing/2014/main" id="{980A2642-FB35-7B8D-B4FF-9AF1DBACB955}"/>
              </a:ext>
            </a:extLst>
          </p:cNvPr>
          <p:cNvSpPr>
            <a:spLocks noGrp="1"/>
          </p:cNvSpPr>
          <p:nvPr>
            <p:ph type="sldNum" sz="quarter" idx="12"/>
          </p:nvPr>
        </p:nvSpPr>
        <p:spPr/>
        <p:txBody>
          <a:bodyPr/>
          <a:lstStyle/>
          <a:p>
            <a:fld id="{ED54DF18-499E-4F97-AED2-EE380001E106}" type="slidenum">
              <a:rPr lang="en-US" smtClean="0">
                <a:latin typeface="Calibri" panose="020F0502020204030204" pitchFamily="34" charset="0"/>
                <a:ea typeface="Calibri" panose="020F0502020204030204" pitchFamily="34" charset="0"/>
                <a:cs typeface="Calibri" panose="020F0502020204030204" pitchFamily="34" charset="0"/>
              </a:rPr>
              <a:t>2</a:t>
            </a:fld>
            <a:endParaRPr lang="en-US">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777076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8884" y="234846"/>
            <a:ext cx="10353761" cy="1326321"/>
          </a:xfrm>
        </p:spPr>
        <p:txBody>
          <a:bodyPr/>
          <a:lstStyle/>
          <a:p>
            <a:pPr algn="l"/>
            <a:r>
              <a:rPr lang="en-US" b="1" dirty="0">
                <a:latin typeface="Calibri" panose="020F0502020204030204" pitchFamily="34" charset="0"/>
                <a:ea typeface="Calibri" panose="020F0502020204030204" pitchFamily="34" charset="0"/>
                <a:cs typeface="Calibri" panose="020F0502020204030204" pitchFamily="34" charset="0"/>
              </a:rPr>
              <a:t>Project Flow Diagram</a:t>
            </a:r>
          </a:p>
        </p:txBody>
      </p:sp>
      <p:pic>
        <p:nvPicPr>
          <p:cNvPr id="4" name="Content Placeholder 3"/>
          <p:cNvPicPr>
            <a:picLocks noGrp="1" noChangeAspect="1"/>
          </p:cNvPicPr>
          <p:nvPr>
            <p:ph idx="1"/>
          </p:nvPr>
        </p:nvPicPr>
        <p:blipFill>
          <a:blip r:embed="rId2"/>
          <a:stretch>
            <a:fillRect/>
          </a:stretch>
        </p:blipFill>
        <p:spPr>
          <a:xfrm>
            <a:off x="3756753" y="1741877"/>
            <a:ext cx="5477188" cy="4335443"/>
          </a:xfrm>
          <a:prstGeom prst="rect">
            <a:avLst/>
          </a:prstGeom>
        </p:spPr>
      </p:pic>
      <p:sp>
        <p:nvSpPr>
          <p:cNvPr id="5" name="Slide Number Placeholder 4"/>
          <p:cNvSpPr>
            <a:spLocks noGrp="1"/>
          </p:cNvSpPr>
          <p:nvPr>
            <p:ph type="sldNum" sz="quarter" idx="12"/>
          </p:nvPr>
        </p:nvSpPr>
        <p:spPr/>
        <p:txBody>
          <a:bodyPr/>
          <a:lstStyle/>
          <a:p>
            <a:fld id="{ED54DF18-499E-4F97-AED2-EE380001E106}" type="slidenum">
              <a:rPr lang="en-US" b="1" smtClean="0">
                <a:latin typeface="Calibri" panose="020F0502020204030204" pitchFamily="34" charset="0"/>
                <a:ea typeface="Calibri" panose="020F0502020204030204" pitchFamily="34" charset="0"/>
                <a:cs typeface="Calibri" panose="020F0502020204030204" pitchFamily="34" charset="0"/>
              </a:rPr>
              <a:t>3</a:t>
            </a:fld>
            <a:endParaRPr lang="en-US" b="1">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025736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latin typeface="Calibri" panose="020F0502020204030204" pitchFamily="34" charset="0"/>
                <a:ea typeface="Calibri" panose="020F0502020204030204" pitchFamily="34" charset="0"/>
                <a:cs typeface="Calibri" panose="020F0502020204030204" pitchFamily="34" charset="0"/>
              </a:rPr>
              <a:t>Project Overview</a:t>
            </a:r>
          </a:p>
        </p:txBody>
      </p:sp>
      <p:sp>
        <p:nvSpPr>
          <p:cNvPr id="3" name="Content Placeholder 2"/>
          <p:cNvSpPr>
            <a:spLocks noGrp="1"/>
          </p:cNvSpPr>
          <p:nvPr>
            <p:ph idx="1"/>
          </p:nvPr>
        </p:nvSpPr>
        <p:spPr>
          <a:xfrm>
            <a:off x="838200" y="1953042"/>
            <a:ext cx="10515600" cy="2545653"/>
          </a:xfrm>
        </p:spPr>
        <p:txBody>
          <a:bodyPr/>
          <a:lstStyle/>
          <a:p>
            <a:r>
              <a:rPr lang="en-US" dirty="0">
                <a:latin typeface="Arial" panose="020B0604020202020204" pitchFamily="34" charset="0"/>
                <a:cs typeface="Arial" panose="020B0604020202020204" pitchFamily="34" charset="0"/>
              </a:rPr>
              <a:t>This project simulates a social networking system</a:t>
            </a:r>
          </a:p>
          <a:p>
            <a:r>
              <a:rPr lang="en-US" dirty="0">
                <a:latin typeface="Arial" panose="020B0604020202020204" pitchFamily="34" charset="0"/>
                <a:cs typeface="Arial" panose="020B0604020202020204" pitchFamily="34" charset="0"/>
              </a:rPr>
              <a:t>Users can send and accept friend requests</a:t>
            </a:r>
          </a:p>
          <a:p>
            <a:r>
              <a:rPr lang="en-US" dirty="0">
                <a:latin typeface="Arial" panose="020B0604020202020204" pitchFamily="34" charset="0"/>
                <a:cs typeface="Arial" panose="020B0604020202020204" pitchFamily="34" charset="0"/>
              </a:rPr>
              <a:t>Messaging feature supports text and images</a:t>
            </a:r>
          </a:p>
          <a:p>
            <a:r>
              <a:rPr lang="en-US" dirty="0">
                <a:latin typeface="Arial" panose="020B0604020202020204" pitchFamily="34" charset="0"/>
                <a:cs typeface="Arial" panose="020B0604020202020204" pitchFamily="34" charset="0"/>
              </a:rPr>
              <a:t>Profile pictures and profile updates are included</a:t>
            </a:r>
          </a:p>
          <a:p>
            <a:r>
              <a:rPr lang="en-US" dirty="0">
                <a:latin typeface="Arial" panose="020B0604020202020204" pitchFamily="34" charset="0"/>
                <a:cs typeface="Arial" panose="020B0604020202020204" pitchFamily="34" charset="0"/>
              </a:rPr>
              <a:t>Core focus is implementation of DSA concepts</a:t>
            </a:r>
          </a:p>
          <a:p>
            <a:endParaRPr lang="en-US" dirty="0"/>
          </a:p>
        </p:txBody>
      </p:sp>
      <p:sp>
        <p:nvSpPr>
          <p:cNvPr id="4" name="Slide Number Placeholder 3"/>
          <p:cNvSpPr>
            <a:spLocks noGrp="1"/>
          </p:cNvSpPr>
          <p:nvPr>
            <p:ph type="sldNum" sz="quarter" idx="12"/>
          </p:nvPr>
        </p:nvSpPr>
        <p:spPr/>
        <p:txBody>
          <a:bodyPr/>
          <a:lstStyle/>
          <a:p>
            <a:fld id="{ED54DF18-499E-4F97-AED2-EE380001E106}" type="slidenum">
              <a:rPr lang="en-US" smtClean="0"/>
              <a:t>4</a:t>
            </a:fld>
            <a:endParaRPr lang="en-US"/>
          </a:p>
        </p:txBody>
      </p:sp>
    </p:spTree>
    <p:extLst>
      <p:ext uri="{BB962C8B-B14F-4D97-AF65-F5344CB8AC3E}">
        <p14:creationId xmlns:p14="http://schemas.microsoft.com/office/powerpoint/2010/main" val="35550075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4800" b="1" dirty="0">
                <a:latin typeface="Calibri" panose="020F0502020204030204" pitchFamily="34" charset="0"/>
                <a:ea typeface="Calibri" panose="020F0502020204030204" pitchFamily="34" charset="0"/>
                <a:cs typeface="Calibri" panose="020F0502020204030204" pitchFamily="34" charset="0"/>
              </a:rPr>
              <a:t>System Architecture</a:t>
            </a:r>
          </a:p>
        </p:txBody>
      </p:sp>
      <p:sp>
        <p:nvSpPr>
          <p:cNvPr id="4" name="Rectangle 1"/>
          <p:cNvSpPr>
            <a:spLocks noGrp="1" noChangeArrowheads="1"/>
          </p:cNvSpPr>
          <p:nvPr>
            <p:ph idx="1"/>
          </p:nvPr>
        </p:nvSpPr>
        <p:spPr bwMode="auto">
          <a:xfrm>
            <a:off x="913795" y="1935921"/>
            <a:ext cx="9959898"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Frontend: </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HTML</a:t>
            </a:r>
            <a:endParaRPr lang="en-US" altLang="en-US" sz="240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Backend: </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Flask (Python Framework)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Data Storage: </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JSON file (persistent storage)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File Uploads: </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Profile pictures &amp; message images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Authentication: </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Session-based login system</a:t>
            </a:r>
          </a:p>
        </p:txBody>
      </p:sp>
      <p:sp>
        <p:nvSpPr>
          <p:cNvPr id="5" name="Slide Number Placeholder 4"/>
          <p:cNvSpPr>
            <a:spLocks noGrp="1"/>
          </p:cNvSpPr>
          <p:nvPr>
            <p:ph type="sldNum" sz="quarter" idx="12"/>
          </p:nvPr>
        </p:nvSpPr>
        <p:spPr/>
        <p:txBody>
          <a:bodyPr/>
          <a:lstStyle/>
          <a:p>
            <a:fld id="{ED54DF18-499E-4F97-AED2-EE380001E106}" type="slidenum">
              <a:rPr lang="en-US" sz="1400" smtClean="0">
                <a:latin typeface="Calibri" panose="020F0502020204030204" pitchFamily="34" charset="0"/>
                <a:ea typeface="Calibri" panose="020F0502020204030204" pitchFamily="34" charset="0"/>
                <a:cs typeface="Calibri" panose="020F0502020204030204" pitchFamily="34" charset="0"/>
              </a:rPr>
              <a:t>5</a:t>
            </a:fld>
            <a:endParaRPr lang="en-US" sz="140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165524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latin typeface="Calibri" panose="020F0502020204030204" pitchFamily="34" charset="0"/>
                <a:ea typeface="Calibri" panose="020F0502020204030204" pitchFamily="34" charset="0"/>
                <a:cs typeface="Calibri" panose="020F0502020204030204" pitchFamily="34" charset="0"/>
              </a:rPr>
              <a:t>Data Structures Algorithms</a:t>
            </a:r>
          </a:p>
        </p:txBody>
      </p:sp>
      <p:sp>
        <p:nvSpPr>
          <p:cNvPr id="4" name="Rectangle 1"/>
          <p:cNvSpPr>
            <a:spLocks noGrp="1" noChangeArrowheads="1"/>
          </p:cNvSpPr>
          <p:nvPr>
            <p:ph idx="1"/>
          </p:nvPr>
        </p:nvSpPr>
        <p:spPr bwMode="auto">
          <a:xfrm>
            <a:off x="851210" y="2079956"/>
            <a:ext cx="9335429"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Graph:</a:t>
            </a:r>
            <a:r>
              <a:rPr kumimoji="0" lang="en-US" altLang="en-US" sz="2400" b="0" i="0" u="none" strike="noStrike" cap="none" normalizeH="0" baseline="0" dirty="0">
                <a:ln>
                  <a:noFill/>
                </a:ln>
                <a:solidFill>
                  <a:schemeClr val="tx1"/>
                </a:solidFill>
                <a:effectLst/>
                <a:latin typeface="Arial" panose="020B0604020202020204" pitchFamily="34" charset="0"/>
              </a:rPr>
              <a:t> Represents friendship network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Hash Table (Dictionary):</a:t>
            </a:r>
            <a:r>
              <a:rPr kumimoji="0" lang="en-US" altLang="en-US" sz="2400" b="0" i="0" u="none" strike="noStrike" cap="none" normalizeH="0" baseline="0" dirty="0">
                <a:ln>
                  <a:noFill/>
                </a:ln>
                <a:solidFill>
                  <a:schemeClr val="tx1"/>
                </a:solidFill>
                <a:effectLst/>
                <a:latin typeface="Arial" panose="020B0604020202020204" pitchFamily="34" charset="0"/>
              </a:rPr>
              <a:t> Stores users efficiently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Set:</a:t>
            </a:r>
            <a:r>
              <a:rPr kumimoji="0" lang="en-US" altLang="en-US" sz="2400" b="0" i="0" u="none" strike="noStrike" cap="none" normalizeH="0" baseline="0" dirty="0">
                <a:ln>
                  <a:noFill/>
                </a:ln>
                <a:solidFill>
                  <a:schemeClr val="tx1"/>
                </a:solidFill>
                <a:effectLst/>
                <a:latin typeface="Arial" panose="020B0604020202020204" pitchFamily="34" charset="0"/>
              </a:rPr>
              <a:t> Friends list (avoids duplicates)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List:</a:t>
            </a:r>
            <a:r>
              <a:rPr kumimoji="0" lang="en-US" altLang="en-US" sz="2400" b="0" i="0" u="none" strike="noStrike" cap="none" normalizeH="0" baseline="0" dirty="0">
                <a:ln>
                  <a:noFill/>
                </a:ln>
                <a:solidFill>
                  <a:schemeClr val="tx1"/>
                </a:solidFill>
                <a:effectLst/>
                <a:latin typeface="Arial" panose="020B0604020202020204" pitchFamily="34" charset="0"/>
              </a:rPr>
              <a:t> Friend requests and messages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BFS Concept:</a:t>
            </a:r>
            <a:r>
              <a:rPr kumimoji="0" lang="en-US" altLang="en-US" sz="2400" b="0" i="0" u="none" strike="noStrike" cap="none" normalizeH="0" baseline="0" dirty="0">
                <a:ln>
                  <a:noFill/>
                </a:ln>
                <a:solidFill>
                  <a:schemeClr val="tx1"/>
                </a:solidFill>
                <a:effectLst/>
                <a:latin typeface="Arial" panose="020B0604020202020204" pitchFamily="34" charset="0"/>
              </a:rPr>
              <a:t> Friend suggestions</a:t>
            </a:r>
          </a:p>
        </p:txBody>
      </p:sp>
      <p:sp>
        <p:nvSpPr>
          <p:cNvPr id="5" name="Slide Number Placeholder 4"/>
          <p:cNvSpPr>
            <a:spLocks noGrp="1"/>
          </p:cNvSpPr>
          <p:nvPr>
            <p:ph type="sldNum" sz="quarter" idx="12"/>
          </p:nvPr>
        </p:nvSpPr>
        <p:spPr/>
        <p:txBody>
          <a:bodyPr/>
          <a:lstStyle/>
          <a:p>
            <a:fld id="{ED54DF18-499E-4F97-AED2-EE380001E106}" type="slidenum">
              <a:rPr lang="en-US" smtClean="0"/>
              <a:t>6</a:t>
            </a:fld>
            <a:endParaRPr lang="en-US"/>
          </a:p>
        </p:txBody>
      </p:sp>
    </p:spTree>
    <p:extLst>
      <p:ext uri="{BB962C8B-B14F-4D97-AF65-F5344CB8AC3E}">
        <p14:creationId xmlns:p14="http://schemas.microsoft.com/office/powerpoint/2010/main" val="13123420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31D94-01D0-DEB8-A6AD-3B416CDB9F1B}"/>
              </a:ext>
            </a:extLst>
          </p:cNvPr>
          <p:cNvSpPr>
            <a:spLocks noGrp="1"/>
          </p:cNvSpPr>
          <p:nvPr>
            <p:ph type="title"/>
          </p:nvPr>
        </p:nvSpPr>
        <p:spPr>
          <a:xfrm>
            <a:off x="283564" y="247217"/>
            <a:ext cx="10515600" cy="1325563"/>
          </a:xfrm>
        </p:spPr>
        <p:txBody>
          <a:bodyPr/>
          <a:lstStyle/>
          <a:p>
            <a:pPr algn="l"/>
            <a:r>
              <a:rPr lang="en-US" b="1" dirty="0">
                <a:latin typeface="Calibri" panose="020F0502020204030204" pitchFamily="34" charset="0"/>
                <a:ea typeface="Calibri" panose="020F0502020204030204" pitchFamily="34" charset="0"/>
                <a:cs typeface="Calibri" panose="020F0502020204030204" pitchFamily="34" charset="0"/>
              </a:rPr>
              <a:t>User Class Logic</a:t>
            </a:r>
          </a:p>
        </p:txBody>
      </p:sp>
      <p:pic>
        <p:nvPicPr>
          <p:cNvPr id="5" name="Content Placeholder 4">
            <a:extLst>
              <a:ext uri="{FF2B5EF4-FFF2-40B4-BE49-F238E27FC236}">
                <a16:creationId xmlns:a16="http://schemas.microsoft.com/office/drawing/2014/main" id="{3BDE2C8F-C0CD-960F-0D22-2D0BEB78223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687777" y="1438916"/>
            <a:ext cx="3141516" cy="3887448"/>
          </a:xfrm>
        </p:spPr>
      </p:pic>
      <p:sp>
        <p:nvSpPr>
          <p:cNvPr id="4" name="Slide Number Placeholder 3"/>
          <p:cNvSpPr>
            <a:spLocks noGrp="1"/>
          </p:cNvSpPr>
          <p:nvPr>
            <p:ph type="sldNum" sz="quarter" idx="12"/>
          </p:nvPr>
        </p:nvSpPr>
        <p:spPr>
          <a:xfrm>
            <a:off x="10489267" y="6115684"/>
            <a:ext cx="753545" cy="365125"/>
          </a:xfrm>
        </p:spPr>
        <p:txBody>
          <a:bodyPr/>
          <a:lstStyle/>
          <a:p>
            <a:fld id="{ED54DF18-499E-4F97-AED2-EE380001E106}" type="slidenum">
              <a:rPr lang="en-US" smtClean="0"/>
              <a:t>7</a:t>
            </a:fld>
            <a:endParaRPr lang="en-US"/>
          </a:p>
        </p:txBody>
      </p:sp>
      <p:pic>
        <p:nvPicPr>
          <p:cNvPr id="6" name="Content Placeholder 4">
            <a:extLst>
              <a:ext uri="{FF2B5EF4-FFF2-40B4-BE49-F238E27FC236}">
                <a16:creationId xmlns:a16="http://schemas.microsoft.com/office/drawing/2014/main" id="{4839DDA6-9849-DE30-01FD-9049C25DA8FF}"/>
              </a:ext>
            </a:extLst>
          </p:cNvPr>
          <p:cNvPicPr>
            <a:picLocks noChangeAspect="1"/>
          </p:cNvPicPr>
          <p:nvPr/>
        </p:nvPicPr>
        <p:blipFill>
          <a:blip r:embed="rId3"/>
          <a:stretch>
            <a:fillRect/>
          </a:stretch>
        </p:blipFill>
        <p:spPr>
          <a:xfrm>
            <a:off x="9046530" y="1438916"/>
            <a:ext cx="2937301" cy="4754717"/>
          </a:xfrm>
          <a:prstGeom prst="rect">
            <a:avLst/>
          </a:prstGeom>
        </p:spPr>
      </p:pic>
      <p:sp>
        <p:nvSpPr>
          <p:cNvPr id="3" name="Rectangle 1"/>
          <p:cNvSpPr>
            <a:spLocks noChangeArrowheads="1"/>
          </p:cNvSpPr>
          <p:nvPr/>
        </p:nvSpPr>
        <p:spPr bwMode="auto">
          <a:xfrm>
            <a:off x="234082" y="1926078"/>
            <a:ext cx="4982454"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Stores username and hashed</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Arial" panose="020B0604020202020204" pitchFamily="34" charset="0"/>
              </a:rPr>
              <a:t> password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Profile picture support added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Pending and sent requests stored </a:t>
            </a:r>
          </a:p>
          <a:p>
            <a:pPr marL="0" marR="0" lvl="0" indent="0" algn="l" defTabSz="914400" rtl="0" eaLnBrk="0" fontAlgn="base" latinLnBrk="0" hangingPunct="0">
              <a:lnSpc>
                <a:spcPct val="100000"/>
              </a:lnSpc>
              <a:spcBef>
                <a:spcPct val="0"/>
              </a:spcBef>
              <a:spcAft>
                <a:spcPct val="0"/>
              </a:spcAft>
              <a:buClrTx/>
              <a:buSzTx/>
              <a:tabLst/>
            </a:pPr>
            <a:r>
              <a:rPr lang="en-US" altLang="en-US" sz="2400" dirty="0">
                <a:latin typeface="Arial" panose="020B0604020202020204" pitchFamily="34" charset="0"/>
              </a:rPr>
              <a:t> </a:t>
            </a:r>
            <a:r>
              <a:rPr kumimoji="0" lang="en-US" altLang="en-US" sz="2400" b="0" i="0" u="none" strike="noStrike" cap="none" normalizeH="0" baseline="0" dirty="0">
                <a:ln>
                  <a:noFill/>
                </a:ln>
                <a:solidFill>
                  <a:schemeClr val="tx1"/>
                </a:solidFill>
                <a:effectLst/>
                <a:latin typeface="Arial" panose="020B0604020202020204" pitchFamily="34" charset="0"/>
              </a:rPr>
              <a:t>in LIST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Data converted to dictionary for </a:t>
            </a:r>
          </a:p>
          <a:p>
            <a:pPr marL="0" marR="0" lvl="0" indent="0" algn="l" defTabSz="914400" rtl="0" eaLnBrk="0" fontAlgn="base" latinLnBrk="0" hangingPunct="0">
              <a:lnSpc>
                <a:spcPct val="100000"/>
              </a:lnSpc>
              <a:spcBef>
                <a:spcPct val="0"/>
              </a:spcBef>
              <a:spcAft>
                <a:spcPct val="0"/>
              </a:spcAft>
              <a:buClrTx/>
              <a:buSzTx/>
              <a:tabLst/>
            </a:pPr>
            <a:r>
              <a:rPr lang="en-US" altLang="en-US" sz="2400" dirty="0">
                <a:latin typeface="Arial" panose="020B0604020202020204" pitchFamily="34" charset="0"/>
              </a:rPr>
              <a:t> </a:t>
            </a:r>
            <a:r>
              <a:rPr kumimoji="0" lang="en-US" altLang="en-US" sz="2400" b="0" i="0" u="none" strike="noStrike" cap="none" normalizeH="0" baseline="0" dirty="0">
                <a:ln>
                  <a:noFill/>
                </a:ln>
                <a:solidFill>
                  <a:schemeClr val="tx1"/>
                </a:solidFill>
                <a:effectLst/>
                <a:latin typeface="Arial" panose="020B0604020202020204" pitchFamily="34" charset="0"/>
              </a:rPr>
              <a:t>JSON</a:t>
            </a:r>
            <a:r>
              <a:rPr kumimoji="0" lang="en-US" altLang="en-US" sz="2400" b="0" i="0" u="none" strike="noStrike" cap="none" normalizeH="0" dirty="0">
                <a:ln>
                  <a:noFill/>
                </a:ln>
                <a:solidFill>
                  <a:schemeClr val="tx1"/>
                </a:solidFill>
                <a:effectLst/>
                <a:latin typeface="Arial" panose="020B0604020202020204" pitchFamily="34" charset="0"/>
              </a:rPr>
              <a:t> </a:t>
            </a:r>
            <a:r>
              <a:rPr kumimoji="0" lang="en-US" altLang="en-US" sz="2400" b="0" i="0" u="none" strike="noStrike" cap="none" normalizeH="0" baseline="0" dirty="0">
                <a:ln>
                  <a:noFill/>
                </a:ln>
                <a:solidFill>
                  <a:schemeClr val="tx1"/>
                </a:solidFill>
                <a:effectLst/>
                <a:latin typeface="Arial" panose="020B0604020202020204" pitchFamily="34" charset="0"/>
              </a:rPr>
              <a:t>storage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Friends stored using SET</a:t>
            </a:r>
          </a:p>
        </p:txBody>
      </p:sp>
      <p:sp>
        <p:nvSpPr>
          <p:cNvPr id="7" name="TextBox 6">
            <a:extLst>
              <a:ext uri="{FF2B5EF4-FFF2-40B4-BE49-F238E27FC236}">
                <a16:creationId xmlns:a16="http://schemas.microsoft.com/office/drawing/2014/main" id="{A61E15A0-1A74-F816-490B-6D8E9D49C5F1}"/>
              </a:ext>
            </a:extLst>
          </p:cNvPr>
          <p:cNvSpPr txBox="1"/>
          <p:nvPr/>
        </p:nvSpPr>
        <p:spPr>
          <a:xfrm>
            <a:off x="9046530" y="875616"/>
            <a:ext cx="2379241" cy="461665"/>
          </a:xfrm>
          <a:prstGeom prst="rect">
            <a:avLst/>
          </a:prstGeom>
          <a:noFill/>
        </p:spPr>
        <p:txBody>
          <a:bodyPr wrap="none" rtlCol="0">
            <a:spAutoFit/>
          </a:bodyPr>
          <a:lstStyle/>
          <a:p>
            <a:r>
              <a:rPr lang="en-US" sz="2400" b="1" dirty="0">
                <a:latin typeface="Calibri" panose="020F0502020204030204" pitchFamily="34" charset="0"/>
                <a:ea typeface="Calibri" panose="020F0502020204030204" pitchFamily="34" charset="0"/>
                <a:cs typeface="Calibri" panose="020F0502020204030204" pitchFamily="34" charset="0"/>
              </a:rPr>
              <a:t>User Registration</a:t>
            </a:r>
          </a:p>
        </p:txBody>
      </p:sp>
      <p:sp>
        <p:nvSpPr>
          <p:cNvPr id="8" name="TextBox 7">
            <a:extLst>
              <a:ext uri="{FF2B5EF4-FFF2-40B4-BE49-F238E27FC236}">
                <a16:creationId xmlns:a16="http://schemas.microsoft.com/office/drawing/2014/main" id="{C983ED9B-C201-3C1D-E0A6-081063096797}"/>
              </a:ext>
            </a:extLst>
          </p:cNvPr>
          <p:cNvSpPr txBox="1"/>
          <p:nvPr/>
        </p:nvSpPr>
        <p:spPr>
          <a:xfrm>
            <a:off x="5687777" y="799109"/>
            <a:ext cx="1523174" cy="461665"/>
          </a:xfrm>
          <a:prstGeom prst="rect">
            <a:avLst/>
          </a:prstGeom>
          <a:noFill/>
        </p:spPr>
        <p:txBody>
          <a:bodyPr wrap="none" rtlCol="0">
            <a:spAutoFit/>
          </a:bodyPr>
          <a:lstStyle/>
          <a:p>
            <a:r>
              <a:rPr lang="en-US" sz="2400" b="1" dirty="0">
                <a:latin typeface="Calibri" panose="020F0502020204030204" pitchFamily="34" charset="0"/>
                <a:ea typeface="Calibri" panose="020F0502020204030204" pitchFamily="34" charset="0"/>
                <a:cs typeface="Calibri" panose="020F0502020204030204" pitchFamily="34" charset="0"/>
              </a:rPr>
              <a:t>User Login</a:t>
            </a:r>
          </a:p>
        </p:txBody>
      </p:sp>
    </p:spTree>
    <p:extLst>
      <p:ext uri="{BB962C8B-B14F-4D97-AF65-F5344CB8AC3E}">
        <p14:creationId xmlns:p14="http://schemas.microsoft.com/office/powerpoint/2010/main" val="37069885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5682311-7D7E-F779-A253-BBFD6EA76FDA}"/>
              </a:ext>
            </a:extLst>
          </p:cNvPr>
          <p:cNvPicPr>
            <a:picLocks noChangeAspect="1"/>
          </p:cNvPicPr>
          <p:nvPr/>
        </p:nvPicPr>
        <p:blipFill>
          <a:blip r:embed="rId2"/>
          <a:stretch>
            <a:fillRect/>
          </a:stretch>
        </p:blipFill>
        <p:spPr>
          <a:xfrm>
            <a:off x="838200" y="945572"/>
            <a:ext cx="10515600" cy="4966855"/>
          </a:xfrm>
          <a:prstGeom prst="rect">
            <a:avLst/>
          </a:prstGeom>
        </p:spPr>
      </p:pic>
      <p:sp>
        <p:nvSpPr>
          <p:cNvPr id="2" name="Title 1">
            <a:extLst>
              <a:ext uri="{FF2B5EF4-FFF2-40B4-BE49-F238E27FC236}">
                <a16:creationId xmlns:a16="http://schemas.microsoft.com/office/drawing/2014/main" id="{A82F2606-B2D1-8301-1F70-6433751D1895}"/>
              </a:ext>
            </a:extLst>
          </p:cNvPr>
          <p:cNvSpPr>
            <a:spLocks noGrp="1"/>
          </p:cNvSpPr>
          <p:nvPr>
            <p:ph type="title"/>
          </p:nvPr>
        </p:nvSpPr>
        <p:spPr>
          <a:xfrm>
            <a:off x="838200" y="0"/>
            <a:ext cx="10515600" cy="1325563"/>
          </a:xfrm>
        </p:spPr>
        <p:txBody>
          <a:bodyPr/>
          <a:lstStyle/>
          <a:p>
            <a:pPr algn="l"/>
            <a:r>
              <a:rPr lang="en-US" b="1" dirty="0">
                <a:latin typeface="Calibri" panose="020F0502020204030204" pitchFamily="34" charset="0"/>
                <a:ea typeface="Calibri" panose="020F0502020204030204" pitchFamily="34" charset="0"/>
                <a:cs typeface="Calibri" panose="020F0502020204030204" pitchFamily="34" charset="0"/>
              </a:rPr>
              <a:t>User Dashboard</a:t>
            </a:r>
          </a:p>
        </p:txBody>
      </p:sp>
      <p:sp>
        <p:nvSpPr>
          <p:cNvPr id="4" name="Slide Number Placeholder 3"/>
          <p:cNvSpPr>
            <a:spLocks noGrp="1"/>
          </p:cNvSpPr>
          <p:nvPr>
            <p:ph type="sldNum" sz="quarter" idx="12"/>
          </p:nvPr>
        </p:nvSpPr>
        <p:spPr/>
        <p:txBody>
          <a:bodyPr/>
          <a:lstStyle/>
          <a:p>
            <a:fld id="{ED54DF18-499E-4F97-AED2-EE380001E106}" type="slidenum">
              <a:rPr lang="en-US" smtClean="0"/>
              <a:t>8</a:t>
            </a:fld>
            <a:endParaRPr lang="en-US"/>
          </a:p>
        </p:txBody>
      </p:sp>
    </p:spTree>
    <p:extLst>
      <p:ext uri="{BB962C8B-B14F-4D97-AF65-F5344CB8AC3E}">
        <p14:creationId xmlns:p14="http://schemas.microsoft.com/office/powerpoint/2010/main" val="13906606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BB674-3FAC-CB70-EC88-0B111BA53B2A}"/>
              </a:ext>
            </a:extLst>
          </p:cNvPr>
          <p:cNvSpPr>
            <a:spLocks noGrp="1"/>
          </p:cNvSpPr>
          <p:nvPr>
            <p:ph type="title"/>
          </p:nvPr>
        </p:nvSpPr>
        <p:spPr/>
        <p:txBody>
          <a:bodyPr/>
          <a:lstStyle/>
          <a:p>
            <a:pPr algn="l"/>
            <a:r>
              <a:rPr lang="en-US" b="1" dirty="0">
                <a:latin typeface="Calibri" panose="020F0502020204030204" pitchFamily="34" charset="0"/>
                <a:ea typeface="Calibri" panose="020F0502020204030204" pitchFamily="34" charset="0"/>
                <a:cs typeface="Calibri" panose="020F0502020204030204" pitchFamily="34" charset="0"/>
              </a:rPr>
              <a:t>Friend Request Algorithm</a:t>
            </a:r>
          </a:p>
        </p:txBody>
      </p:sp>
      <p:sp>
        <p:nvSpPr>
          <p:cNvPr id="3" name="Content Placeholder 2">
            <a:extLst>
              <a:ext uri="{FF2B5EF4-FFF2-40B4-BE49-F238E27FC236}">
                <a16:creationId xmlns:a16="http://schemas.microsoft.com/office/drawing/2014/main" id="{74B7506E-3B5F-6792-8E80-3DA2113BD631}"/>
              </a:ext>
            </a:extLst>
          </p:cNvPr>
          <p:cNvSpPr>
            <a:spLocks noGrp="1"/>
          </p:cNvSpPr>
          <p:nvPr>
            <p:ph idx="1"/>
          </p:nvPr>
        </p:nvSpPr>
        <p:spPr/>
        <p:txBody>
          <a:bodyPr>
            <a:norm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Check if receiver exists</a:t>
            </a:r>
          </a:p>
          <a:p>
            <a:r>
              <a:rPr lang="en-US" sz="2400" dirty="0">
                <a:latin typeface="Calibri" panose="020F0502020204030204" pitchFamily="34" charset="0"/>
                <a:ea typeface="Calibri" panose="020F0502020204030204" pitchFamily="34" charset="0"/>
                <a:cs typeface="Calibri" panose="020F0502020204030204" pitchFamily="34" charset="0"/>
              </a:rPr>
              <a:t>Prevent sending request to self</a:t>
            </a:r>
          </a:p>
          <a:p>
            <a:r>
              <a:rPr lang="en-US" sz="2400" dirty="0">
                <a:latin typeface="Calibri" panose="020F0502020204030204" pitchFamily="34" charset="0"/>
                <a:ea typeface="Calibri" panose="020F0502020204030204" pitchFamily="34" charset="0"/>
                <a:cs typeface="Calibri" panose="020F0502020204030204" pitchFamily="34" charset="0"/>
              </a:rPr>
              <a:t>Avoid duplicate requests</a:t>
            </a:r>
          </a:p>
          <a:p>
            <a:r>
              <a:rPr lang="en-US" sz="2400" dirty="0">
                <a:latin typeface="Calibri" panose="020F0502020204030204" pitchFamily="34" charset="0"/>
                <a:ea typeface="Calibri" panose="020F0502020204030204" pitchFamily="34" charset="0"/>
                <a:cs typeface="Calibri" panose="020F0502020204030204" pitchFamily="34" charset="0"/>
              </a:rPr>
              <a:t>Store request in pending and sent lists</a:t>
            </a:r>
          </a:p>
          <a:p>
            <a:r>
              <a:rPr lang="en-US" sz="2400" dirty="0">
                <a:latin typeface="Calibri" panose="020F0502020204030204" pitchFamily="34" charset="0"/>
                <a:ea typeface="Calibri" panose="020F0502020204030204" pitchFamily="34" charset="0"/>
                <a:cs typeface="Calibri" panose="020F0502020204030204" pitchFamily="34" charset="0"/>
              </a:rPr>
              <a:t>On accept, update graph edges</a:t>
            </a:r>
          </a:p>
          <a:p>
            <a:endParaRPr lang="en-US" sz="2400"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12"/>
          </p:nvPr>
        </p:nvSpPr>
        <p:spPr/>
        <p:txBody>
          <a:bodyPr/>
          <a:lstStyle/>
          <a:p>
            <a:fld id="{ED54DF18-499E-4F97-AED2-EE380001E106}" type="slidenum">
              <a:rPr lang="en-US" smtClean="0">
                <a:latin typeface="Calibri" panose="020F0502020204030204" pitchFamily="34" charset="0"/>
                <a:ea typeface="Calibri" panose="020F0502020204030204" pitchFamily="34" charset="0"/>
                <a:cs typeface="Calibri" panose="020F0502020204030204" pitchFamily="34" charset="0"/>
              </a:rPr>
              <a:t>9</a:t>
            </a:fld>
            <a:endParaRPr lang="en-US">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3E1E9C5B-8254-C207-A180-5C4202BF1957}"/>
              </a:ext>
            </a:extLst>
          </p:cNvPr>
          <p:cNvPicPr>
            <a:picLocks noChangeAspect="1"/>
          </p:cNvPicPr>
          <p:nvPr/>
        </p:nvPicPr>
        <p:blipFill>
          <a:blip r:embed="rId2"/>
          <a:stretch>
            <a:fillRect/>
          </a:stretch>
        </p:blipFill>
        <p:spPr>
          <a:xfrm>
            <a:off x="6619176" y="2096064"/>
            <a:ext cx="5373511" cy="1926353"/>
          </a:xfrm>
          <a:prstGeom prst="rect">
            <a:avLst/>
          </a:prstGeom>
        </p:spPr>
      </p:pic>
    </p:spTree>
    <p:extLst>
      <p:ext uri="{BB962C8B-B14F-4D97-AF65-F5344CB8AC3E}">
        <p14:creationId xmlns:p14="http://schemas.microsoft.com/office/powerpoint/2010/main" val="41326792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5D497-F885-A190-9C54-BF524F8794EC}"/>
              </a:ext>
            </a:extLst>
          </p:cNvPr>
          <p:cNvSpPr>
            <a:spLocks noGrp="1"/>
          </p:cNvSpPr>
          <p:nvPr>
            <p:ph type="title"/>
          </p:nvPr>
        </p:nvSpPr>
        <p:spPr>
          <a:xfrm>
            <a:off x="862132" y="219855"/>
            <a:ext cx="10353761" cy="1326321"/>
          </a:xfrm>
        </p:spPr>
        <p:txBody>
          <a:bodyPr/>
          <a:lstStyle/>
          <a:p>
            <a:pPr algn="l"/>
            <a:r>
              <a:rPr lang="en-US" b="1" dirty="0">
                <a:latin typeface="Calibri" panose="020F0502020204030204" pitchFamily="34" charset="0"/>
                <a:ea typeface="Calibri" panose="020F0502020204030204" pitchFamily="34" charset="0"/>
                <a:cs typeface="Calibri" panose="020F0502020204030204" pitchFamily="34" charset="0"/>
              </a:rPr>
              <a:t>Friend Request Algorithm</a:t>
            </a:r>
            <a:endParaRPr lang="en-US" dirty="0"/>
          </a:p>
        </p:txBody>
      </p:sp>
      <p:sp>
        <p:nvSpPr>
          <p:cNvPr id="3" name="Content Placeholder 2">
            <a:extLst>
              <a:ext uri="{FF2B5EF4-FFF2-40B4-BE49-F238E27FC236}">
                <a16:creationId xmlns:a16="http://schemas.microsoft.com/office/drawing/2014/main" id="{016876A0-FEF2-322C-7BE6-8A8A62FDB2FC}"/>
              </a:ext>
            </a:extLst>
          </p:cNvPr>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ED54DF18-499E-4F97-AED2-EE380001E106}" type="slidenum">
              <a:rPr lang="en-US" smtClean="0"/>
              <a:t>10</a:t>
            </a:fld>
            <a:endParaRPr lang="en-US"/>
          </a:p>
        </p:txBody>
      </p:sp>
      <p:pic>
        <p:nvPicPr>
          <p:cNvPr id="5" name="Picture 4">
            <a:extLst>
              <a:ext uri="{FF2B5EF4-FFF2-40B4-BE49-F238E27FC236}">
                <a16:creationId xmlns:a16="http://schemas.microsoft.com/office/drawing/2014/main" id="{C051E1B0-F4F9-D89E-FE83-9DD7469FB7E6}"/>
              </a:ext>
            </a:extLst>
          </p:cNvPr>
          <p:cNvPicPr>
            <a:picLocks noChangeAspect="1"/>
          </p:cNvPicPr>
          <p:nvPr/>
        </p:nvPicPr>
        <p:blipFill>
          <a:blip r:embed="rId2"/>
          <a:stretch>
            <a:fillRect/>
          </a:stretch>
        </p:blipFill>
        <p:spPr>
          <a:xfrm>
            <a:off x="913795" y="1330953"/>
            <a:ext cx="9600216" cy="4612225"/>
          </a:xfrm>
          <a:prstGeom prst="rect">
            <a:avLst/>
          </a:prstGeom>
        </p:spPr>
      </p:pic>
    </p:spTree>
    <p:extLst>
      <p:ext uri="{BB962C8B-B14F-4D97-AF65-F5344CB8AC3E}">
        <p14:creationId xmlns:p14="http://schemas.microsoft.com/office/powerpoint/2010/main" val="13327423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latin typeface="Arial" panose="020B0604020202020204" pitchFamily="34" charset="0"/>
                <a:cs typeface="Arial" panose="020B0604020202020204" pitchFamily="34" charset="0"/>
              </a:rPr>
              <a:t>Friend Suggestion Algorithm</a:t>
            </a:r>
          </a:p>
        </p:txBody>
      </p:sp>
      <p:sp>
        <p:nvSpPr>
          <p:cNvPr id="4" name="Rectangle 1"/>
          <p:cNvSpPr>
            <a:spLocks noGrp="1" noChangeArrowheads="1"/>
          </p:cNvSpPr>
          <p:nvPr>
            <p:ph idx="1"/>
          </p:nvPr>
        </p:nvSpPr>
        <p:spPr bwMode="auto">
          <a:xfrm>
            <a:off x="838200" y="1985170"/>
            <a:ext cx="8621751"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Based on Friends-of-Friends concept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Uses BFS like traversal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Excludes existing friends and pending users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Counts mutual friends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Sorts suggestions by mutual friend count</a:t>
            </a:r>
          </a:p>
        </p:txBody>
      </p:sp>
      <p:sp>
        <p:nvSpPr>
          <p:cNvPr id="5" name="Slide Number Placeholder 4"/>
          <p:cNvSpPr>
            <a:spLocks noGrp="1"/>
          </p:cNvSpPr>
          <p:nvPr>
            <p:ph type="sldNum" sz="quarter" idx="12"/>
          </p:nvPr>
        </p:nvSpPr>
        <p:spPr/>
        <p:txBody>
          <a:bodyPr/>
          <a:lstStyle/>
          <a:p>
            <a:fld id="{ED54DF18-499E-4F97-AED2-EE380001E106}" type="slidenum">
              <a:rPr lang="en-US" smtClean="0"/>
              <a:t>11</a:t>
            </a:fld>
            <a:endParaRPr lang="en-US"/>
          </a:p>
        </p:txBody>
      </p:sp>
    </p:spTree>
    <p:extLst>
      <p:ext uri="{BB962C8B-B14F-4D97-AF65-F5344CB8AC3E}">
        <p14:creationId xmlns:p14="http://schemas.microsoft.com/office/powerpoint/2010/main" val="11591596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1FE3D-085B-9144-2F51-E371F2F8E33E}"/>
              </a:ext>
            </a:extLst>
          </p:cNvPr>
          <p:cNvSpPr>
            <a:spLocks noGrp="1"/>
          </p:cNvSpPr>
          <p:nvPr>
            <p:ph type="title"/>
          </p:nvPr>
        </p:nvSpPr>
        <p:spPr>
          <a:xfrm>
            <a:off x="838200" y="73071"/>
            <a:ext cx="10014679" cy="1027907"/>
          </a:xfrm>
        </p:spPr>
        <p:txBody>
          <a:bodyPr/>
          <a:lstStyle/>
          <a:p>
            <a:pPr algn="l"/>
            <a:r>
              <a:rPr lang="en-US" b="1" dirty="0">
                <a:latin typeface="Calibri" panose="020F0502020204030204" pitchFamily="34" charset="0"/>
                <a:ea typeface="Calibri" panose="020F0502020204030204" pitchFamily="34" charset="0"/>
                <a:cs typeface="Calibri" panose="020F0502020204030204" pitchFamily="34" charset="0"/>
              </a:rPr>
              <a:t>User Dashboard</a:t>
            </a:r>
          </a:p>
        </p:txBody>
      </p:sp>
      <p:sp>
        <p:nvSpPr>
          <p:cNvPr id="4" name="Slide Number Placeholder 3"/>
          <p:cNvSpPr>
            <a:spLocks noGrp="1"/>
          </p:cNvSpPr>
          <p:nvPr>
            <p:ph type="sldNum" sz="quarter" idx="12"/>
          </p:nvPr>
        </p:nvSpPr>
        <p:spPr/>
        <p:txBody>
          <a:bodyPr/>
          <a:lstStyle/>
          <a:p>
            <a:fld id="{ED54DF18-499E-4F97-AED2-EE380001E106}" type="slidenum">
              <a:rPr lang="en-US" smtClean="0"/>
              <a:t>12</a:t>
            </a:fld>
            <a:endParaRPr lang="en-US"/>
          </a:p>
        </p:txBody>
      </p:sp>
      <p:pic>
        <p:nvPicPr>
          <p:cNvPr id="8" name="Picture 7">
            <a:extLst>
              <a:ext uri="{FF2B5EF4-FFF2-40B4-BE49-F238E27FC236}">
                <a16:creationId xmlns:a16="http://schemas.microsoft.com/office/drawing/2014/main" id="{0B4F23B5-AA21-5B2F-728B-09D926D9F2E5}"/>
              </a:ext>
            </a:extLst>
          </p:cNvPr>
          <p:cNvPicPr>
            <a:picLocks noChangeAspect="1"/>
          </p:cNvPicPr>
          <p:nvPr/>
        </p:nvPicPr>
        <p:blipFill>
          <a:blip r:embed="rId2"/>
          <a:stretch>
            <a:fillRect/>
          </a:stretch>
        </p:blipFill>
        <p:spPr>
          <a:xfrm>
            <a:off x="838200" y="1100978"/>
            <a:ext cx="10411315" cy="4782942"/>
          </a:xfrm>
          <a:prstGeom prst="rect">
            <a:avLst/>
          </a:prstGeom>
        </p:spPr>
      </p:pic>
    </p:spTree>
    <p:extLst>
      <p:ext uri="{BB962C8B-B14F-4D97-AF65-F5344CB8AC3E}">
        <p14:creationId xmlns:p14="http://schemas.microsoft.com/office/powerpoint/2010/main" val="31834667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14491"/>
            <a:ext cx="10515600" cy="1325563"/>
          </a:xfrm>
        </p:spPr>
        <p:txBody>
          <a:bodyPr/>
          <a:lstStyle/>
          <a:p>
            <a:pPr algn="l"/>
            <a:r>
              <a:rPr lang="en-US" b="1" dirty="0">
                <a:latin typeface="Calibri" panose="020F0502020204030204" pitchFamily="34" charset="0"/>
                <a:ea typeface="Calibri" panose="020F0502020204030204" pitchFamily="34" charset="0"/>
                <a:cs typeface="Calibri" panose="020F0502020204030204" pitchFamily="34" charset="0"/>
              </a:rPr>
              <a:t>Messaging Algorithm</a:t>
            </a:r>
          </a:p>
        </p:txBody>
      </p:sp>
      <p:sp>
        <p:nvSpPr>
          <p:cNvPr id="4" name="Rectangle 1"/>
          <p:cNvSpPr>
            <a:spLocks noGrp="1" noChangeArrowheads="1"/>
          </p:cNvSpPr>
          <p:nvPr>
            <p:ph idx="1"/>
          </p:nvPr>
        </p:nvSpPr>
        <p:spPr bwMode="auto">
          <a:xfrm>
            <a:off x="947854" y="2084527"/>
            <a:ext cx="9034346"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Messaging allowed only between friends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Messages stored in a list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Indexed by sender and receiver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Conversation sorted by timestamp</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Unread messages tracked and updated</a:t>
            </a:r>
          </a:p>
        </p:txBody>
      </p:sp>
      <p:sp>
        <p:nvSpPr>
          <p:cNvPr id="5" name="Slide Number Placeholder 4"/>
          <p:cNvSpPr>
            <a:spLocks noGrp="1"/>
          </p:cNvSpPr>
          <p:nvPr>
            <p:ph type="sldNum" sz="quarter" idx="12"/>
          </p:nvPr>
        </p:nvSpPr>
        <p:spPr/>
        <p:txBody>
          <a:bodyPr/>
          <a:lstStyle/>
          <a:p>
            <a:fld id="{ED54DF18-499E-4F97-AED2-EE380001E106}" type="slidenum">
              <a:rPr lang="en-US" smtClean="0">
                <a:latin typeface="Calibri" panose="020F0502020204030204" pitchFamily="34" charset="0"/>
                <a:ea typeface="Calibri" panose="020F0502020204030204" pitchFamily="34" charset="0"/>
                <a:cs typeface="Calibri" panose="020F0502020204030204" pitchFamily="34" charset="0"/>
              </a:rPr>
              <a:t>13</a:t>
            </a:fld>
            <a:endParaRPr lang="en-US">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292567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FA8E62B2-E1FC-5611-768F-43AECEEEE1EB}"/>
              </a:ext>
            </a:extLst>
          </p:cNvPr>
          <p:cNvPicPr>
            <a:picLocks noChangeAspect="1"/>
          </p:cNvPicPr>
          <p:nvPr/>
        </p:nvPicPr>
        <p:blipFill>
          <a:blip r:embed="rId2"/>
          <a:stretch>
            <a:fillRect/>
          </a:stretch>
        </p:blipFill>
        <p:spPr>
          <a:xfrm>
            <a:off x="838200" y="1525229"/>
            <a:ext cx="10872439" cy="5013683"/>
          </a:xfrm>
          <a:prstGeom prst="rect">
            <a:avLst/>
          </a:prstGeom>
        </p:spPr>
      </p:pic>
      <p:sp>
        <p:nvSpPr>
          <p:cNvPr id="3" name="Slide Number Placeholder 2"/>
          <p:cNvSpPr>
            <a:spLocks noGrp="1"/>
          </p:cNvSpPr>
          <p:nvPr>
            <p:ph type="sldNum" sz="quarter" idx="12"/>
          </p:nvPr>
        </p:nvSpPr>
        <p:spPr/>
        <p:txBody>
          <a:bodyPr/>
          <a:lstStyle/>
          <a:p>
            <a:fld id="{ED54DF18-499E-4F97-AED2-EE380001E106}" type="slidenum">
              <a:rPr lang="en-US" smtClean="0"/>
              <a:t>14</a:t>
            </a:fld>
            <a:endParaRPr lang="en-US"/>
          </a:p>
        </p:txBody>
      </p:sp>
      <p:sp>
        <p:nvSpPr>
          <p:cNvPr id="4" name="TextBox 3">
            <a:extLst>
              <a:ext uri="{FF2B5EF4-FFF2-40B4-BE49-F238E27FC236}">
                <a16:creationId xmlns:a16="http://schemas.microsoft.com/office/drawing/2014/main" id="{A515CF73-0656-9494-169B-E1E443CC8B79}"/>
              </a:ext>
            </a:extLst>
          </p:cNvPr>
          <p:cNvSpPr txBox="1"/>
          <p:nvPr/>
        </p:nvSpPr>
        <p:spPr>
          <a:xfrm>
            <a:off x="838200" y="523779"/>
            <a:ext cx="6093500" cy="1446550"/>
          </a:xfrm>
          <a:prstGeom prst="rect">
            <a:avLst/>
          </a:prstGeom>
          <a:noFill/>
        </p:spPr>
        <p:txBody>
          <a:bodyPr wrap="square">
            <a:spAutoFit/>
          </a:bodyPr>
          <a:lstStyle/>
          <a:p>
            <a:r>
              <a:rPr lang="en-US" sz="4400" b="1" dirty="0">
                <a:latin typeface="Calibri" panose="020F0502020204030204" pitchFamily="34" charset="0"/>
                <a:ea typeface="Calibri" panose="020F0502020204030204" pitchFamily="34" charset="0"/>
                <a:cs typeface="Calibri" panose="020F0502020204030204" pitchFamily="34" charset="0"/>
              </a:rPr>
              <a:t>Messaging Algorithm</a:t>
            </a:r>
            <a:br>
              <a:rPr lang="en-US" sz="4400" b="1" dirty="0">
                <a:latin typeface="Calibri" panose="020F0502020204030204" pitchFamily="34" charset="0"/>
                <a:ea typeface="Calibri" panose="020F0502020204030204" pitchFamily="34" charset="0"/>
                <a:cs typeface="Calibri" panose="020F0502020204030204" pitchFamily="34" charset="0"/>
              </a:rPr>
            </a:br>
            <a:endParaRPr lang="en-US" sz="4400" dirty="0"/>
          </a:p>
        </p:txBody>
      </p:sp>
    </p:spTree>
    <p:extLst>
      <p:ext uri="{BB962C8B-B14F-4D97-AF65-F5344CB8AC3E}">
        <p14:creationId xmlns:p14="http://schemas.microsoft.com/office/powerpoint/2010/main" val="29897998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89324"/>
            <a:ext cx="10515600" cy="1325563"/>
          </a:xfrm>
        </p:spPr>
        <p:txBody>
          <a:bodyPr/>
          <a:lstStyle/>
          <a:p>
            <a:pPr algn="l"/>
            <a:r>
              <a:rPr lang="en-US" b="1" dirty="0">
                <a:latin typeface="Arial" panose="020B0604020202020204" pitchFamily="34" charset="0"/>
                <a:cs typeface="Arial" panose="020B0604020202020204" pitchFamily="34" charset="0"/>
              </a:rPr>
              <a:t>Conclusion</a:t>
            </a:r>
          </a:p>
        </p:txBody>
      </p:sp>
      <p:sp>
        <p:nvSpPr>
          <p:cNvPr id="3" name="Content Placeholder 2"/>
          <p:cNvSpPr>
            <a:spLocks noGrp="1"/>
          </p:cNvSpPr>
          <p:nvPr>
            <p:ph idx="1"/>
          </p:nvPr>
        </p:nvSpPr>
        <p:spPr>
          <a:xfrm>
            <a:off x="838200" y="2364058"/>
            <a:ext cx="9471103" cy="2017558"/>
          </a:xfrm>
        </p:spPr>
        <p:txBody>
          <a:bodyPr>
            <a:noAutofit/>
          </a:bodyPr>
          <a:lstStyle/>
          <a:p>
            <a:pPr marL="0" indent="0" algn="just">
              <a:buNone/>
            </a:pPr>
            <a:r>
              <a:rPr lang="en-US" sz="2400" dirty="0">
                <a:latin typeface="Arial" panose="020B0604020202020204" pitchFamily="34" charset="0"/>
                <a:cs typeface="Arial" panose="020B0604020202020204" pitchFamily="34" charset="0"/>
              </a:rPr>
              <a:t>This project demonstrates the practical use of Data Structures and Algorithms in a social networking system. Graphs are used to manage friendships, while hash tables and sets ensure fast and consistent data handling. Flow diagrams clearly explain the system working. The integration of friend requests, messaging, and profile management makes this project good.</a:t>
            </a:r>
          </a:p>
        </p:txBody>
      </p:sp>
      <p:sp>
        <p:nvSpPr>
          <p:cNvPr id="4" name="Slide Number Placeholder 3"/>
          <p:cNvSpPr>
            <a:spLocks noGrp="1"/>
          </p:cNvSpPr>
          <p:nvPr>
            <p:ph type="sldNum" sz="quarter" idx="12"/>
          </p:nvPr>
        </p:nvSpPr>
        <p:spPr/>
        <p:txBody>
          <a:bodyPr/>
          <a:lstStyle/>
          <a:p>
            <a:fld id="{ED54DF18-499E-4F97-AED2-EE380001E106}" type="slidenum">
              <a:rPr lang="en-US" smtClean="0"/>
              <a:t>15</a:t>
            </a:fld>
            <a:endParaRPr lang="en-US"/>
          </a:p>
        </p:txBody>
      </p:sp>
    </p:spTree>
    <p:extLst>
      <p:ext uri="{BB962C8B-B14F-4D97-AF65-F5344CB8AC3E}">
        <p14:creationId xmlns:p14="http://schemas.microsoft.com/office/powerpoint/2010/main" val="36767998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2918886" y="2631017"/>
            <a:ext cx="5523692" cy="1446550"/>
          </a:xfrm>
          <a:prstGeom prst="rect">
            <a:avLst/>
          </a:prstGeom>
        </p:spPr>
        <p:txBody>
          <a:bodyPr wrap="none">
            <a:spAutoFit/>
          </a:bodyPr>
          <a:lstStyle/>
          <a:p>
            <a:r>
              <a:rPr lang="en-US" sz="8800" dirty="0">
                <a:latin typeface="Arial" panose="020B0604020202020204" pitchFamily="34" charset="0"/>
                <a:cs typeface="Arial" panose="020B0604020202020204" pitchFamily="34" charset="0"/>
              </a:rPr>
              <a:t>Thank You</a:t>
            </a:r>
          </a:p>
        </p:txBody>
      </p:sp>
      <p:sp>
        <p:nvSpPr>
          <p:cNvPr id="7" name="Slide Number Placeholder 6"/>
          <p:cNvSpPr>
            <a:spLocks noGrp="1"/>
          </p:cNvSpPr>
          <p:nvPr>
            <p:ph type="sldNum" sz="quarter" idx="12"/>
          </p:nvPr>
        </p:nvSpPr>
        <p:spPr/>
        <p:txBody>
          <a:bodyPr/>
          <a:lstStyle/>
          <a:p>
            <a:fld id="{ED54DF18-499E-4F97-AED2-EE380001E106}" type="slidenum">
              <a:rPr lang="en-US" smtClean="0"/>
              <a:t>16</a:t>
            </a:fld>
            <a:endParaRPr lang="en-US"/>
          </a:p>
        </p:txBody>
      </p:sp>
    </p:spTree>
    <p:extLst>
      <p:ext uri="{BB962C8B-B14F-4D97-AF65-F5344CB8AC3E}">
        <p14:creationId xmlns:p14="http://schemas.microsoft.com/office/powerpoint/2010/main" val="19129743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395AF-35E8-805A-6A57-EE32E3D1703A}"/>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02C58A93-620C-E83D-BB95-BFC9EC21181A}"/>
              </a:ext>
            </a:extLst>
          </p:cNvPr>
          <p:cNvSpPr>
            <a:spLocks noGrp="1"/>
          </p:cNvSpPr>
          <p:nvPr>
            <p:ph idx="1"/>
          </p:nvPr>
        </p:nvSpPr>
        <p:spPr/>
        <p:txBody>
          <a:bodyPr/>
          <a:lstStyle/>
          <a:p>
            <a:r>
              <a:rPr lang="en-US" dirty="0">
                <a:hlinkClick r:id="rId2"/>
              </a:rPr>
              <a:t>https://chatgpt.com/</a:t>
            </a:r>
            <a:endParaRPr lang="en-US" dirty="0"/>
          </a:p>
          <a:p>
            <a:r>
              <a:rPr lang="en-US" dirty="0">
                <a:hlinkClick r:id="rId3"/>
              </a:rPr>
              <a:t>https://claude.ai/new</a:t>
            </a:r>
            <a:endParaRPr lang="en-US" dirty="0"/>
          </a:p>
          <a:p>
            <a:endParaRPr lang="en-US" dirty="0"/>
          </a:p>
        </p:txBody>
      </p:sp>
      <p:sp>
        <p:nvSpPr>
          <p:cNvPr id="4" name="Slide Number Placeholder 3">
            <a:extLst>
              <a:ext uri="{FF2B5EF4-FFF2-40B4-BE49-F238E27FC236}">
                <a16:creationId xmlns:a16="http://schemas.microsoft.com/office/drawing/2014/main" id="{F7FA735C-9AAC-187C-5854-70063990D210}"/>
              </a:ext>
            </a:extLst>
          </p:cNvPr>
          <p:cNvSpPr>
            <a:spLocks noGrp="1"/>
          </p:cNvSpPr>
          <p:nvPr>
            <p:ph type="sldNum" sz="quarter" idx="12"/>
          </p:nvPr>
        </p:nvSpPr>
        <p:spPr/>
        <p:txBody>
          <a:bodyPr/>
          <a:lstStyle/>
          <a:p>
            <a:fld id="{ED54DF18-499E-4F97-AED2-EE380001E106}" type="slidenum">
              <a:rPr lang="en-US" smtClean="0"/>
              <a:t>17</a:t>
            </a:fld>
            <a:endParaRPr lang="en-US"/>
          </a:p>
        </p:txBody>
      </p:sp>
    </p:spTree>
    <p:extLst>
      <p:ext uri="{BB962C8B-B14F-4D97-AF65-F5344CB8AC3E}">
        <p14:creationId xmlns:p14="http://schemas.microsoft.com/office/powerpoint/2010/main" val="343754568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TM04033921[[fn=Damask]]</Template>
  <TotalTime>1462</TotalTime>
  <Words>396</Words>
  <Application>Microsoft Office PowerPoint</Application>
  <PresentationFormat>Widescreen</PresentationFormat>
  <Paragraphs>94</Paragraphs>
  <Slides>17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Bookman Old Style</vt:lpstr>
      <vt:lpstr>Calibri</vt:lpstr>
      <vt:lpstr>Rockwell</vt:lpstr>
      <vt:lpstr>Damask</vt:lpstr>
      <vt:lpstr>Social Media Friend Recommendation Simulator  Data Structures And Algorithm Lab Project</vt:lpstr>
      <vt:lpstr>Outline</vt:lpstr>
      <vt:lpstr>Project Flow Diagram</vt:lpstr>
      <vt:lpstr>Project Overview</vt:lpstr>
      <vt:lpstr>System Architecture</vt:lpstr>
      <vt:lpstr>Data Structures Algorithms</vt:lpstr>
      <vt:lpstr>User Class Logic</vt:lpstr>
      <vt:lpstr>User Dashboard</vt:lpstr>
      <vt:lpstr>Friend Request Algorithm</vt:lpstr>
      <vt:lpstr>Friend Request Algorithm</vt:lpstr>
      <vt:lpstr>Friend Suggestion Algorithm</vt:lpstr>
      <vt:lpstr>User Dashboard</vt:lpstr>
      <vt:lpstr>Messaging Algorithm</vt:lpstr>
      <vt:lpstr>PowerPoint Presentation</vt:lpstr>
      <vt:lpstr>Conclusion</vt:lpstr>
      <vt:lpstr>PowerPoint Presentation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Super</dc:creator>
  <cp:lastModifiedBy>Hasan Ali Ahmad</cp:lastModifiedBy>
  <cp:revision>9</cp:revision>
  <dcterms:created xsi:type="dcterms:W3CDTF">2026-01-13T18:04:09Z</dcterms:created>
  <dcterms:modified xsi:type="dcterms:W3CDTF">2026-01-15T17:06:37Z</dcterms:modified>
</cp:coreProperties>
</file>